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8028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007994"/>
            <a:ext cx="325755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kern="0" spc="2" dirty="0">
                <a:solidFill>
                  <a:srgbClr val="4D79FF"/>
                </a:solidFill>
              </a:rPr>
              <a:t>AI探索之旅</a:t>
            </a:r>
            <a:endParaRPr lang="en-US" sz="1193" dirty="0"/>
          </a:p>
        </p:txBody>
      </p:sp>
      <p:sp>
        <p:nvSpPr>
          <p:cNvPr id="4" name="Text 1"/>
          <p:cNvSpPr/>
          <p:nvPr/>
        </p:nvSpPr>
        <p:spPr>
          <a:xfrm>
            <a:off x="1964532" y="1348940"/>
            <a:ext cx="325755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2D2D2D"/>
                </a:solidFill>
              </a:rPr>
              <a:t>欢迎来到
AI的世界!</a:t>
            </a:r>
            <a:endParaRPr lang="en-US" sz="3294" dirty="0"/>
          </a:p>
        </p:txBody>
      </p:sp>
      <p:sp>
        <p:nvSpPr>
          <p:cNvPr id="5" name="Shape 2"/>
          <p:cNvSpPr/>
          <p:nvPr/>
        </p:nvSpPr>
        <p:spPr>
          <a:xfrm>
            <a:off x="428625" y="2821056"/>
            <a:ext cx="85725" cy="85725"/>
          </a:xfrm>
          <a:prstGeom prst="rect">
            <a:avLst/>
          </a:prstGeom>
          <a:solidFill>
            <a:srgbClr val="FF4D4D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938" y="2765692"/>
            <a:ext cx="25454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2D2D2D"/>
                </a:solidFill>
              </a:rPr>
              <a:t>你的手机、游戏机里都住着"聪明的机器"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28625" y="3163956"/>
            <a:ext cx="85725" cy="85725"/>
          </a:xfrm>
          <a:prstGeom prst="rect">
            <a:avLst/>
          </a:prstGeom>
          <a:solidFill>
            <a:srgbClr val="FF4D4D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2938" y="3108592"/>
            <a:ext cx="28575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2D2D2D"/>
                </a:solidFill>
              </a:rPr>
              <a:t>它们能听懂说话、认出照片、还能帮忙找东西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8625" y="3506856"/>
            <a:ext cx="85725" cy="85725"/>
          </a:xfrm>
          <a:prstGeom prst="rect">
            <a:avLst/>
          </a:prstGeom>
          <a:solidFill>
            <a:srgbClr val="FF4D4D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2938" y="3451492"/>
            <a:ext cx="297408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2D2D2D"/>
                </a:solidFill>
              </a:rPr>
              <a:t>今天我们要探索：机器是怎么学会"认识数字"的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8625" y="3849756"/>
            <a:ext cx="85725" cy="85725"/>
          </a:xfrm>
          <a:prstGeom prst="rect">
            <a:avLst/>
          </a:prstGeom>
          <a:solidFill>
            <a:srgbClr val="FF4D4D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2938" y="3794392"/>
            <a:ext cx="2428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50" dirty="0">
                <a:solidFill>
                  <a:srgbClr val="2D2D2D"/>
                </a:solidFill>
              </a:rPr>
              <a:t>就像你学认字一样，机器也需要学习！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114800" y="0"/>
            <a:ext cx="5029200" cy="5143500"/>
          </a:xfrm>
          <a:prstGeom prst="rect">
            <a:avLst/>
          </a:prstGeom>
          <a:solidFill>
            <a:srgbClr val="4D79FF"/>
          </a:solidFill>
          <a:ln/>
        </p:spPr>
      </p:sp>
      <p:sp>
        <p:nvSpPr>
          <p:cNvPr id="14" name="Shape 11"/>
          <p:cNvSpPr/>
          <p:nvPr/>
        </p:nvSpPr>
        <p:spPr>
          <a:xfrm>
            <a:off x="4114800" y="0"/>
            <a:ext cx="42863" cy="514350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5" name="Shape 12"/>
          <p:cNvSpPr/>
          <p:nvPr/>
        </p:nvSpPr>
        <p:spPr>
          <a:xfrm>
            <a:off x="4617709" y="514350"/>
            <a:ext cx="4023354" cy="4114800"/>
          </a:xfrm>
          <a:prstGeom prst="rect">
            <a:avLst/>
          </a:prstGeom>
          <a:solidFill>
            <a:srgbClr val="FFFFFF"/>
          </a:solidFill>
          <a:ln w="45720">
            <a:solidFill>
              <a:srgbClr val="2D2D2D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09" y="514350"/>
            <a:ext cx="4023354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6965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2D2D2D"/>
                </a:solidFill>
              </a:rPr>
              <a:t>机器也需要"上学"学习</a:t>
            </a:r>
            <a:endParaRPr lang="en-US" sz="2862" dirty="0"/>
          </a:p>
        </p:txBody>
      </p:sp>
      <p:sp>
        <p:nvSpPr>
          <p:cNvPr id="4" name="Shape 1"/>
          <p:cNvSpPr/>
          <p:nvPr/>
        </p:nvSpPr>
        <p:spPr>
          <a:xfrm>
            <a:off x="428625" y="1482328"/>
            <a:ext cx="4000500" cy="3704034"/>
          </a:xfrm>
          <a:prstGeom prst="rect">
            <a:avLst/>
          </a:prstGeom>
          <a:solidFill>
            <a:srgbClr val="FFFFFF"/>
          </a:solidFill>
          <a:ln w="27432">
            <a:solidFill>
              <a:srgbClr val="2D2D2D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7064" y="1696641"/>
            <a:ext cx="375047" cy="4286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914525" y="2268141"/>
            <a:ext cx="1000125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D2D2D"/>
                </a:solidFill>
              </a:rPr>
              <a:t>小朋友学习</a:t>
            </a:r>
            <a:endParaRPr lang="en-US" sz="1397" dirty="0"/>
          </a:p>
        </p:txBody>
      </p:sp>
      <p:sp>
        <p:nvSpPr>
          <p:cNvPr id="7" name="Text 3"/>
          <p:cNvSpPr/>
          <p:nvPr/>
        </p:nvSpPr>
        <p:spPr>
          <a:xfrm>
            <a:off x="642938" y="2700338"/>
            <a:ext cx="35433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D2D2D"/>
                </a:solidFill>
              </a:rPr>
              <a:t>• 看很多次"苹果"这个词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642938" y="2914650"/>
            <a:ext cx="35433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D2D2D"/>
                </a:solidFill>
              </a:rPr>
              <a:t>• 慢慢记住形状和读音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42938" y="3128963"/>
            <a:ext cx="35433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D2D2D"/>
                </a:solidFill>
              </a:rPr>
              <a:t>• 练习写字越多，写得越好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686300" y="1482328"/>
            <a:ext cx="4029075" cy="3704034"/>
          </a:xfrm>
          <a:prstGeom prst="rect">
            <a:avLst/>
          </a:prstGeom>
          <a:solidFill>
            <a:srgbClr val="FFFFFF"/>
          </a:solidFill>
          <a:ln w="27432">
            <a:solidFill>
              <a:srgbClr val="2D2D2D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7234" y="1696641"/>
            <a:ext cx="535781" cy="4286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39328" y="2268141"/>
            <a:ext cx="1151567" cy="2893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2D2D2D"/>
                </a:solidFill>
              </a:rPr>
              <a:t>机器(AI)学习</a:t>
            </a:r>
            <a:endParaRPr lang="en-US" sz="1397" dirty="0"/>
          </a:p>
        </p:txBody>
      </p:sp>
      <p:sp>
        <p:nvSpPr>
          <p:cNvPr id="13" name="Text 8"/>
          <p:cNvSpPr/>
          <p:nvPr/>
        </p:nvSpPr>
        <p:spPr>
          <a:xfrm>
            <a:off x="4929188" y="2700338"/>
            <a:ext cx="35718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D2D2D"/>
                </a:solidFill>
              </a:rPr>
              <a:t>• 看成千上万个数字图片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4929188" y="2914650"/>
            <a:ext cx="35718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D2D2D"/>
                </a:solidFill>
              </a:rPr>
              <a:t>• 慢慢找到数字的规律</a:t>
            </a:r>
            <a:endParaRPr lang="en-US" sz="1050" dirty="0"/>
          </a:p>
        </p:txBody>
      </p:sp>
      <p:sp>
        <p:nvSpPr>
          <p:cNvPr id="15" name="Text 10"/>
          <p:cNvSpPr/>
          <p:nvPr/>
        </p:nvSpPr>
        <p:spPr>
          <a:xfrm>
            <a:off x="4929188" y="3128963"/>
            <a:ext cx="35718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D2D2D"/>
                </a:solidFill>
              </a:rPr>
              <a:t>• 看的例子越多，认得越准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4929188" y="3486150"/>
            <a:ext cx="3571875" cy="1428750"/>
          </a:xfrm>
          <a:prstGeom prst="rect">
            <a:avLst/>
          </a:prstGeom>
          <a:solidFill>
            <a:srgbClr val="F9F9F9"/>
          </a:solidFill>
          <a:ln w="18288">
            <a:solidFill>
              <a:srgbClr val="2D2D2D"/>
            </a:solidFill>
            <a:prstDash val="solid"/>
          </a:ln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9188" y="3486150"/>
            <a:ext cx="3571875" cy="142875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257300" y="5414963"/>
            <a:ext cx="6629400" cy="578644"/>
          </a:xfrm>
          <a:prstGeom prst="roundRect">
            <a:avLst/>
          </a:prstGeom>
          <a:solidFill>
            <a:srgbClr val="2D2D2D"/>
          </a:solidFill>
          <a:ln w="18288">
            <a:solidFill>
              <a:srgbClr val="FF4D4D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1257300" y="5414963"/>
            <a:ext cx="6629400" cy="578644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关键概念：学习需要大量的练习和例子！</a:t>
            </a:r>
            <a:endParaRPr lang="en-US" sz="119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37930"/>
            <a:ext cx="3443288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2D2D2D"/>
                </a:solidFill>
              </a:rPr>
              <a:t>机器的"眼睛"
看到的数字</a:t>
            </a:r>
            <a:endParaRPr lang="en-US" sz="2862" dirty="0"/>
          </a:p>
        </p:txBody>
      </p:sp>
      <p:sp>
        <p:nvSpPr>
          <p:cNvPr id="4" name="Shape 1"/>
          <p:cNvSpPr/>
          <p:nvPr/>
        </p:nvSpPr>
        <p:spPr>
          <a:xfrm>
            <a:off x="428625" y="1783789"/>
            <a:ext cx="3443288" cy="935831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07219" y="1983814"/>
            <a:ext cx="308610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D79FF"/>
                </a:solidFill>
              </a:rPr>
              <a:t>我们看到的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607219" y="2305283"/>
            <a:ext cx="30861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D2D2D"/>
                </a:solidFill>
              </a:rPr>
              <a:t>一个漂亮的手写数字 "6"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28625" y="2841064"/>
            <a:ext cx="3443288" cy="935831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7219" y="3041089"/>
            <a:ext cx="3086100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4D79FF"/>
                </a:solidFill>
              </a:rPr>
              <a:t>机器看到的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607219" y="3362558"/>
            <a:ext cx="30861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2D2D2D"/>
                </a:solidFill>
              </a:rPr>
              <a:t>一个由很多小方格组成的图片（像素网格）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8625" y="3969776"/>
            <a:ext cx="3443288" cy="592931"/>
          </a:xfrm>
          <a:prstGeom prst="rect">
            <a:avLst/>
          </a:prstGeom>
          <a:solidFill>
            <a:srgbClr val="2D2D2D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781" y="4114437"/>
            <a:ext cx="96441" cy="1285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3659" y="4091220"/>
            <a:ext cx="163204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白色方格=0，黑色方格=255</a:t>
            </a:r>
            <a:endParaRPr lang="en-US" sz="942" dirty="0"/>
          </a:p>
        </p:txBody>
      </p:sp>
      <p:sp>
        <p:nvSpPr>
          <p:cNvPr id="13" name="Text 9"/>
          <p:cNvSpPr/>
          <p:nvPr/>
        </p:nvSpPr>
        <p:spPr>
          <a:xfrm>
            <a:off x="535781" y="4280529"/>
            <a:ext cx="2162352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机器就是通过这些数字来"看"图片的！</a:t>
            </a:r>
            <a:endParaRPr lang="en-US" sz="942" dirty="0"/>
          </a:p>
        </p:txBody>
      </p:sp>
      <p:sp>
        <p:nvSpPr>
          <p:cNvPr id="14" name="Shape 10"/>
          <p:cNvSpPr/>
          <p:nvPr/>
        </p:nvSpPr>
        <p:spPr>
          <a:xfrm>
            <a:off x="4157663" y="1296981"/>
            <a:ext cx="4557713" cy="2549537"/>
          </a:xfrm>
          <a:prstGeom prst="rect">
            <a:avLst/>
          </a:prstGeom>
          <a:solidFill>
            <a:srgbClr val="FFFFFF"/>
          </a:solidFill>
          <a:ln w="45720">
            <a:solidFill>
              <a:srgbClr val="2D2D2D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9100" y="1388287"/>
            <a:ext cx="4414838" cy="23668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4972050" cy="1078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2D2D2D"/>
                </a:solidFill>
              </a:rPr>
              <a:t>认识MNIST数据集:
机器的"练习本"</a:t>
            </a:r>
            <a:endParaRPr lang="en-US" sz="2649" dirty="0"/>
          </a:p>
        </p:txBody>
      </p:sp>
      <p:sp>
        <p:nvSpPr>
          <p:cNvPr id="4" name="Shape 1"/>
          <p:cNvSpPr/>
          <p:nvPr/>
        </p:nvSpPr>
        <p:spPr>
          <a:xfrm>
            <a:off x="428625" y="1850231"/>
            <a:ext cx="142875" cy="142875"/>
          </a:xfrm>
          <a:prstGeom prst="ellipse">
            <a:avLst/>
          </a:prstGeom>
          <a:solidFill>
            <a:srgbClr val="4D79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14375" y="1794867"/>
            <a:ext cx="266029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2D2D2D"/>
                </a:solidFill>
              </a:rPr>
              <a:t>MNIST是一个超级有名的"数字练习本"</a:t>
            </a:r>
            <a:endParaRPr lang="en-US" sz="1159" dirty="0"/>
          </a:p>
        </p:txBody>
      </p:sp>
      <p:sp>
        <p:nvSpPr>
          <p:cNvPr id="6" name="Shape 3"/>
          <p:cNvSpPr/>
          <p:nvPr/>
        </p:nvSpPr>
        <p:spPr>
          <a:xfrm>
            <a:off x="428625" y="2248830"/>
            <a:ext cx="142875" cy="142875"/>
          </a:xfrm>
          <a:prstGeom prst="ellipse">
            <a:avLst/>
          </a:prstGeom>
          <a:solidFill>
            <a:srgbClr val="4D79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4375" y="2193466"/>
            <a:ext cx="51236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2D2D2D"/>
                </a:solidFill>
              </a:rPr>
              <a:t>里面有</a:t>
            </a:r>
            <a:endParaRPr lang="en-US" sz="1159" dirty="0"/>
          </a:p>
        </p:txBody>
      </p:sp>
      <p:sp>
        <p:nvSpPr>
          <p:cNvPr id="8" name="Text 5"/>
          <p:cNvSpPr/>
          <p:nvPr/>
        </p:nvSpPr>
        <p:spPr>
          <a:xfrm>
            <a:off x="1226744" y="2193466"/>
            <a:ext cx="49428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2D2D2D"/>
                </a:solidFill>
              </a:rPr>
              <a:t>70,000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1721030" y="2193466"/>
            <a:ext cx="161312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2D2D2D"/>
                </a:solidFill>
              </a:rPr>
              <a:t>张手写数字图片 (0到9)</a:t>
            </a:r>
            <a:endParaRPr lang="en-US" sz="1159" dirty="0"/>
          </a:p>
        </p:txBody>
      </p:sp>
      <p:sp>
        <p:nvSpPr>
          <p:cNvPr id="10" name="Shape 7"/>
          <p:cNvSpPr/>
          <p:nvPr/>
        </p:nvSpPr>
        <p:spPr>
          <a:xfrm>
            <a:off x="428625" y="2647429"/>
            <a:ext cx="142875" cy="142875"/>
          </a:xfrm>
          <a:prstGeom prst="ellipse">
            <a:avLst/>
          </a:prstGeom>
          <a:solidFill>
            <a:srgbClr val="4D79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4375" y="2592065"/>
            <a:ext cx="361476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2D2D2D"/>
                </a:solidFill>
              </a:rPr>
              <a:t>这些数字由很多不同的人写成，每个人写法都不一样</a:t>
            </a:r>
            <a:endParaRPr lang="en-US" sz="1159" dirty="0"/>
          </a:p>
        </p:txBody>
      </p:sp>
      <p:sp>
        <p:nvSpPr>
          <p:cNvPr id="12" name="Shape 9"/>
          <p:cNvSpPr/>
          <p:nvPr/>
        </p:nvSpPr>
        <p:spPr>
          <a:xfrm>
            <a:off x="428625" y="3046028"/>
            <a:ext cx="142875" cy="142875"/>
          </a:xfrm>
          <a:prstGeom prst="ellipse">
            <a:avLst/>
          </a:prstGeom>
          <a:solidFill>
            <a:srgbClr val="4D79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14375" y="2990664"/>
            <a:ext cx="345760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9" dirty="0">
                <a:solidFill>
                  <a:srgbClr val="2D2D2D"/>
                </a:solidFill>
              </a:rPr>
              <a:t>有的工整，有的潦草，机器要学会认出所有这些！</a:t>
            </a:r>
            <a:endParaRPr lang="en-US" sz="1159" dirty="0"/>
          </a:p>
        </p:txBody>
      </p:sp>
      <p:sp>
        <p:nvSpPr>
          <p:cNvPr id="14" name="Shape 11"/>
          <p:cNvSpPr/>
          <p:nvPr/>
        </p:nvSpPr>
        <p:spPr>
          <a:xfrm rot="-180000">
            <a:off x="5117184" y="1793082"/>
            <a:ext cx="3598193" cy="2288343"/>
          </a:xfrm>
          <a:prstGeom prst="rect">
            <a:avLst/>
          </a:prstGeom>
          <a:solidFill>
            <a:srgbClr val="FFFFFF"/>
          </a:solidFill>
          <a:ln w="45720">
            <a:solidFill>
              <a:srgbClr val="2D2D2D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80000">
            <a:off x="5224342" y="1900238"/>
            <a:ext cx="3383877" cy="2039987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5117185" y="4261693"/>
            <a:ext cx="3598190" cy="1178719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260060" y="4404568"/>
            <a:ext cx="571500" cy="257175"/>
          </a:xfrm>
          <a:prstGeom prst="rect">
            <a:avLst/>
          </a:prstGeom>
          <a:noFill/>
          <a:ln/>
        </p:spPr>
        <p:txBody>
          <a:bodyPr wrap="square" lIns="0" tIns="0" rIns="0" bIns="42545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2D2D"/>
                </a:solidFill>
              </a:rPr>
              <a:t>数据分配</a:t>
            </a:r>
            <a:endParaRPr lang="en-US" sz="987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0060" y="4842123"/>
            <a:ext cx="128588" cy="1285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88648" y="4818906"/>
            <a:ext cx="78695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2D2D2D"/>
                </a:solidFill>
              </a:rPr>
              <a:t>训练用 (学习)</a:t>
            </a:r>
            <a:endParaRPr lang="en-US" sz="942" dirty="0"/>
          </a:p>
        </p:txBody>
      </p:sp>
      <p:sp>
        <p:nvSpPr>
          <p:cNvPr id="20" name="Text 15"/>
          <p:cNvSpPr/>
          <p:nvPr/>
        </p:nvSpPr>
        <p:spPr>
          <a:xfrm>
            <a:off x="8006051" y="4804618"/>
            <a:ext cx="56644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D4D"/>
                </a:solidFill>
              </a:rPr>
              <a:t>60,000 张</a:t>
            </a:r>
            <a:endParaRPr lang="en-US" sz="885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0060" y="5102870"/>
            <a:ext cx="160734" cy="1285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20795" y="5079653"/>
            <a:ext cx="78695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2D2D2D"/>
                </a:solidFill>
              </a:rPr>
              <a:t>测试用 (考试)</a:t>
            </a:r>
            <a:endParaRPr lang="en-US" sz="942" dirty="0"/>
          </a:p>
        </p:txBody>
      </p:sp>
      <p:sp>
        <p:nvSpPr>
          <p:cNvPr id="23" name="Text 17"/>
          <p:cNvSpPr/>
          <p:nvPr/>
        </p:nvSpPr>
        <p:spPr>
          <a:xfrm>
            <a:off x="8006051" y="5065365"/>
            <a:ext cx="566449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4D4D"/>
                </a:solidFill>
              </a:rPr>
              <a:t>10,000 张</a:t>
            </a:r>
            <a:endParaRPr lang="en-US" sz="88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96381" y="357188"/>
            <a:ext cx="4551211" cy="739378"/>
          </a:xfrm>
          <a:prstGeom prst="rect">
            <a:avLst/>
          </a:prstGeom>
          <a:solidFill>
            <a:srgbClr val="FFFFFF"/>
          </a:solidFill>
          <a:ln w="27432">
            <a:solidFill>
              <a:srgbClr val="2D2D2D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296381" y="357188"/>
            <a:ext cx="4551211" cy="739378"/>
          </a:xfrm>
          <a:prstGeom prst="rect">
            <a:avLst/>
          </a:prstGeom>
          <a:noFill/>
          <a:ln/>
        </p:spPr>
        <p:txBody>
          <a:bodyPr wrap="square" lIns="255143" tIns="85090" rIns="255143" bIns="85090" rtlCol="0" anchor="t">
            <a:spAutoFit/>
          </a:bodyPr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2D2D2D"/>
                </a:solidFill>
              </a:rPr>
              <a:t>机器的"大脑"：神经网络</a:t>
            </a:r>
            <a:endParaRPr lang="en-US" sz="2649" dirty="0"/>
          </a:p>
        </p:txBody>
      </p:sp>
      <p:sp>
        <p:nvSpPr>
          <p:cNvPr id="5" name="Shape 2"/>
          <p:cNvSpPr/>
          <p:nvPr/>
        </p:nvSpPr>
        <p:spPr>
          <a:xfrm>
            <a:off x="428625" y="1325166"/>
            <a:ext cx="3314700" cy="898327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57188" y="1660029"/>
            <a:ext cx="142875" cy="142875"/>
          </a:xfrm>
          <a:prstGeom prst="ellipse">
            <a:avLst/>
          </a:prstGeom>
          <a:solidFill>
            <a:srgbClr val="4D79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1500" y="1432322"/>
            <a:ext cx="30289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4D79FF"/>
                </a:solidFill>
              </a:rPr>
              <a:t>1. 输入层 (Input)</a:t>
            </a:r>
            <a:endParaRPr lang="en-US" sz="1090" dirty="0"/>
          </a:p>
        </p:txBody>
      </p:sp>
      <p:sp>
        <p:nvSpPr>
          <p:cNvPr id="8" name="Text 5"/>
          <p:cNvSpPr/>
          <p:nvPr/>
        </p:nvSpPr>
        <p:spPr>
          <a:xfrm>
            <a:off x="571500" y="1694855"/>
            <a:ext cx="302895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接收图片信息
(就像眼睛看到东西)</a:t>
            </a:r>
            <a:endParaRPr lang="en-US" sz="942" dirty="0"/>
          </a:p>
        </p:txBody>
      </p:sp>
      <p:sp>
        <p:nvSpPr>
          <p:cNvPr id="9" name="Shape 6"/>
          <p:cNvSpPr/>
          <p:nvPr/>
        </p:nvSpPr>
        <p:spPr>
          <a:xfrm>
            <a:off x="428625" y="2323505"/>
            <a:ext cx="3314700" cy="898327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7188" y="2658368"/>
            <a:ext cx="142875" cy="142875"/>
          </a:xfrm>
          <a:prstGeom prst="ellipse">
            <a:avLst/>
          </a:prstGeom>
          <a:solidFill>
            <a:srgbClr val="FF4D4D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" y="2430661"/>
            <a:ext cx="30289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D4D"/>
                </a:solidFill>
              </a:rPr>
              <a:t>2. 隐藏层 (Hidden)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571500" y="2693194"/>
            <a:ext cx="302895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处理和分析信息
(就像大脑在思考)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428625" y="3321844"/>
            <a:ext cx="3314700" cy="898327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7188" y="3656707"/>
            <a:ext cx="142875" cy="142875"/>
          </a:xfrm>
          <a:prstGeom prst="ellipse">
            <a:avLst/>
          </a:prstGeom>
          <a:solidFill>
            <a:srgbClr val="2D2D2D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" y="3429000"/>
            <a:ext cx="302895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</a:rPr>
              <a:t>3. 输出层 (Output)</a:t>
            </a:r>
            <a:endParaRPr lang="en-US" sz="1090" dirty="0"/>
          </a:p>
        </p:txBody>
      </p:sp>
      <p:sp>
        <p:nvSpPr>
          <p:cNvPr id="16" name="Text 13"/>
          <p:cNvSpPr/>
          <p:nvPr/>
        </p:nvSpPr>
        <p:spPr>
          <a:xfrm>
            <a:off x="571500" y="3691533"/>
            <a:ext cx="3028950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给出答案"这是几"
(就像嘴巴说出来)</a:t>
            </a:r>
            <a:endParaRPr lang="en-US" sz="942" dirty="0"/>
          </a:p>
        </p:txBody>
      </p:sp>
      <p:sp>
        <p:nvSpPr>
          <p:cNvPr id="17" name="Shape 14"/>
          <p:cNvSpPr/>
          <p:nvPr/>
        </p:nvSpPr>
        <p:spPr>
          <a:xfrm>
            <a:off x="4157663" y="1501080"/>
            <a:ext cx="4557713" cy="2500313"/>
          </a:xfrm>
          <a:prstGeom prst="rect">
            <a:avLst/>
          </a:prstGeom>
          <a:solidFill>
            <a:srgbClr val="FFFFFF"/>
          </a:solidFill>
          <a:ln w="27432">
            <a:solidFill>
              <a:srgbClr val="2D2D2D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6302" y="1643955"/>
            <a:ext cx="2660433" cy="2214535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28625" y="4391620"/>
            <a:ext cx="8286750" cy="685800"/>
          </a:xfrm>
          <a:prstGeom prst="rect">
            <a:avLst/>
          </a:prstGeom>
          <a:solidFill>
            <a:srgbClr val="4D79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607469" y="4534495"/>
            <a:ext cx="357188" cy="357188"/>
          </a:xfrm>
          <a:prstGeom prst="ellipse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2301" y="4605933"/>
            <a:ext cx="187523" cy="21431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107531" y="4609505"/>
            <a:ext cx="34290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比喻：就像接力赛，信息一层层传递，最后得到答案！</a:t>
            </a:r>
            <a:endParaRPr lang="en-US" sz="98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5393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649" b="1" dirty="0">
                <a:solidFill>
                  <a:srgbClr val="2D2D2D"/>
                </a:solidFill>
              </a:rPr>
              <a:t>机器是怎么学习的?</a:t>
            </a:r>
            <a:endParaRPr lang="en-US" sz="2649" dirty="0"/>
          </a:p>
        </p:txBody>
      </p:sp>
      <p:sp>
        <p:nvSpPr>
          <p:cNvPr id="4" name="Shape 1"/>
          <p:cNvSpPr/>
          <p:nvPr/>
        </p:nvSpPr>
        <p:spPr>
          <a:xfrm>
            <a:off x="428625" y="1110853"/>
            <a:ext cx="3964781" cy="500063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71500" y="1196578"/>
            <a:ext cx="285750" cy="285750"/>
          </a:xfrm>
          <a:prstGeom prst="ellipse">
            <a:avLst/>
          </a:prstGeom>
          <a:solidFill>
            <a:srgbClr val="4D79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" y="1196578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1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964406" y="1235869"/>
            <a:ext cx="209577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D4D"/>
                </a:solidFill>
              </a:rPr>
              <a:t>看例子:</a:t>
            </a:r>
            <a:r>
              <a:rPr lang="en-US" sz="942" dirty="0">
                <a:solidFill>
                  <a:srgbClr val="2D2D2D"/>
                </a:solidFill>
              </a:rPr>
              <a:t> 给机器看一张数字"3"的图片</a:t>
            </a:r>
            <a:endParaRPr lang="en-US" sz="987" dirty="0"/>
          </a:p>
        </p:txBody>
      </p:sp>
      <p:sp>
        <p:nvSpPr>
          <p:cNvPr id="8" name="Shape 5"/>
          <p:cNvSpPr/>
          <p:nvPr/>
        </p:nvSpPr>
        <p:spPr>
          <a:xfrm>
            <a:off x="428625" y="1872555"/>
            <a:ext cx="3964781" cy="500063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71500" y="1968996"/>
            <a:ext cx="285750" cy="285750"/>
          </a:xfrm>
          <a:prstGeom prst="ellipse">
            <a:avLst/>
          </a:prstGeom>
          <a:solidFill>
            <a:srgbClr val="4D79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1500" y="196899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2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964406" y="2008287"/>
            <a:ext cx="235294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D4D"/>
                </a:solidFill>
              </a:rPr>
              <a:t>猜答案:</a:t>
            </a:r>
            <a:r>
              <a:rPr lang="en-US" sz="942" dirty="0">
                <a:solidFill>
                  <a:srgbClr val="2D2D2D"/>
                </a:solidFill>
              </a:rPr>
              <a:t> 机器第一次可能猜错，说这是"8"</a:t>
            </a:r>
            <a:endParaRPr lang="en-US" sz="987" dirty="0"/>
          </a:p>
        </p:txBody>
      </p:sp>
      <p:sp>
        <p:nvSpPr>
          <p:cNvPr id="12" name="Shape 9"/>
          <p:cNvSpPr/>
          <p:nvPr/>
        </p:nvSpPr>
        <p:spPr>
          <a:xfrm>
            <a:off x="428625" y="2655689"/>
            <a:ext cx="3964781" cy="500063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1500" y="2762845"/>
            <a:ext cx="285750" cy="285750"/>
          </a:xfrm>
          <a:prstGeom prst="ellipse">
            <a:avLst/>
          </a:prstGeom>
          <a:solidFill>
            <a:srgbClr val="4D79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1500" y="2762845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3</a:t>
            </a:r>
            <a:endParaRPr lang="en-US" sz="987" dirty="0"/>
          </a:p>
        </p:txBody>
      </p:sp>
      <p:sp>
        <p:nvSpPr>
          <p:cNvPr id="15" name="Text 12"/>
          <p:cNvSpPr/>
          <p:nvPr/>
        </p:nvSpPr>
        <p:spPr>
          <a:xfrm>
            <a:off x="964406" y="2802136"/>
            <a:ext cx="198147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D4D"/>
                </a:solidFill>
              </a:rPr>
              <a:t>知道错了:</a:t>
            </a:r>
            <a:r>
              <a:rPr lang="en-US" sz="942" dirty="0">
                <a:solidFill>
                  <a:srgbClr val="2D2D2D"/>
                </a:solidFill>
              </a:rPr>
              <a:t> 告诉机器"错了，这是3"</a:t>
            </a:r>
            <a:endParaRPr lang="en-US" sz="987" dirty="0"/>
          </a:p>
        </p:txBody>
      </p:sp>
      <p:sp>
        <p:nvSpPr>
          <p:cNvPr id="16" name="Shape 13"/>
          <p:cNvSpPr/>
          <p:nvPr/>
        </p:nvSpPr>
        <p:spPr>
          <a:xfrm>
            <a:off x="428625" y="3460254"/>
            <a:ext cx="3964781" cy="500063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71500" y="3578126"/>
            <a:ext cx="285750" cy="285750"/>
          </a:xfrm>
          <a:prstGeom prst="ellipse">
            <a:avLst/>
          </a:prstGeom>
          <a:solidFill>
            <a:srgbClr val="4D79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1500" y="3578126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4</a:t>
            </a:r>
            <a:endParaRPr lang="en-US" sz="987" dirty="0"/>
          </a:p>
        </p:txBody>
      </p:sp>
      <p:sp>
        <p:nvSpPr>
          <p:cNvPr id="19" name="Text 16"/>
          <p:cNvSpPr/>
          <p:nvPr/>
        </p:nvSpPr>
        <p:spPr>
          <a:xfrm>
            <a:off x="964406" y="3617416"/>
            <a:ext cx="25745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D4D"/>
                </a:solidFill>
              </a:rPr>
              <a:t>调整大脑:</a:t>
            </a:r>
            <a:r>
              <a:rPr lang="en-US" sz="942" dirty="0">
                <a:solidFill>
                  <a:srgbClr val="2D2D2D"/>
                </a:solidFill>
              </a:rPr>
              <a:t> 机器调整神经网络，下次猜得更准</a:t>
            </a:r>
            <a:endParaRPr lang="en-US" sz="987" dirty="0"/>
          </a:p>
        </p:txBody>
      </p:sp>
      <p:sp>
        <p:nvSpPr>
          <p:cNvPr id="20" name="Shape 17"/>
          <p:cNvSpPr/>
          <p:nvPr/>
        </p:nvSpPr>
        <p:spPr>
          <a:xfrm>
            <a:off x="428625" y="4286250"/>
            <a:ext cx="3964781" cy="500063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71500" y="4414838"/>
            <a:ext cx="285750" cy="285750"/>
          </a:xfrm>
          <a:prstGeom prst="ellipse">
            <a:avLst/>
          </a:prstGeom>
          <a:solidFill>
            <a:srgbClr val="4D79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71500" y="4414838"/>
            <a:ext cx="2857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5</a:t>
            </a:r>
            <a:endParaRPr lang="en-US" sz="987" dirty="0"/>
          </a:p>
        </p:txBody>
      </p:sp>
      <p:sp>
        <p:nvSpPr>
          <p:cNvPr id="23" name="Text 20"/>
          <p:cNvSpPr/>
          <p:nvPr/>
        </p:nvSpPr>
        <p:spPr>
          <a:xfrm>
            <a:off x="964406" y="4454128"/>
            <a:ext cx="2574513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D4D"/>
                </a:solidFill>
              </a:rPr>
              <a:t>重复练习:</a:t>
            </a:r>
            <a:r>
              <a:rPr lang="en-US" sz="942" dirty="0">
                <a:solidFill>
                  <a:srgbClr val="2D2D2D"/>
                </a:solidFill>
              </a:rPr>
              <a:t> 看成千上万张图片，不断变聪明！</a:t>
            </a:r>
            <a:endParaRPr lang="en-US" sz="987" dirty="0"/>
          </a:p>
        </p:txBody>
      </p:sp>
      <p:sp>
        <p:nvSpPr>
          <p:cNvPr id="24" name="Shape 21"/>
          <p:cNvSpPr/>
          <p:nvPr/>
        </p:nvSpPr>
        <p:spPr>
          <a:xfrm>
            <a:off x="4750594" y="1206401"/>
            <a:ext cx="3964781" cy="2857500"/>
          </a:xfrm>
          <a:prstGeom prst="rect">
            <a:avLst/>
          </a:prstGeom>
          <a:solidFill>
            <a:srgbClr val="FFFFFF"/>
          </a:solidFill>
          <a:ln w="36576">
            <a:solidFill>
              <a:srgbClr val="2D2D2D"/>
            </a:solidFill>
            <a:prstDash val="solid"/>
          </a:ln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5672" y="1277838"/>
            <a:ext cx="2714625" cy="2714625"/>
          </a:xfrm>
          <a:prstGeom prst="rect">
            <a:avLst/>
          </a:prstGeom>
        </p:spPr>
      </p:pic>
      <p:sp>
        <p:nvSpPr>
          <p:cNvPr id="26" name="Shape 22"/>
          <p:cNvSpPr/>
          <p:nvPr/>
        </p:nvSpPr>
        <p:spPr>
          <a:xfrm>
            <a:off x="5425650" y="4206776"/>
            <a:ext cx="2614640" cy="483989"/>
          </a:xfrm>
          <a:prstGeom prst="rect">
            <a:avLst/>
          </a:prstGeom>
          <a:solidFill>
            <a:srgbClr val="2D2D2D"/>
          </a:solidFill>
          <a:ln w="18288">
            <a:solidFill>
              <a:srgbClr val="4D79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425650" y="4206776"/>
            <a:ext cx="2614640" cy="483989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关键：从错误中学习，不断改进！</a:t>
            </a:r>
            <a:endParaRPr lang="en-US" sz="10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5822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2D2D2D"/>
                </a:solidFill>
              </a:rPr>
              <a:t>训练过程: 从"学渣"到"学霸"</a:t>
            </a:r>
            <a:endParaRPr lang="en-US" sz="2862" dirty="0"/>
          </a:p>
        </p:txBody>
      </p:sp>
      <p:sp>
        <p:nvSpPr>
          <p:cNvPr id="4" name="Shape 1"/>
          <p:cNvSpPr/>
          <p:nvPr/>
        </p:nvSpPr>
        <p:spPr>
          <a:xfrm>
            <a:off x="428625" y="1296591"/>
            <a:ext cx="3171825" cy="780455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1500" y="1439466"/>
            <a:ext cx="93323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</a:rPr>
              <a:t>刚开始 (学渣)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3136162" y="1439466"/>
            <a:ext cx="3214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D4D"/>
                </a:solidFill>
              </a:rPr>
              <a:t>10%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571500" y="1701998"/>
            <a:ext cx="28860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机器像刚上学的小朋友，完全在瞎猜。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428625" y="2177058"/>
            <a:ext cx="3171825" cy="780455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1500" y="2319933"/>
            <a:ext cx="93323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</a:rPr>
              <a:t>训练中 (进步)</a:t>
            </a:r>
            <a:endParaRPr lang="en-US" sz="1090" dirty="0"/>
          </a:p>
        </p:txBody>
      </p:sp>
      <p:sp>
        <p:nvSpPr>
          <p:cNvPr id="10" name="Text 7"/>
          <p:cNvSpPr/>
          <p:nvPr/>
        </p:nvSpPr>
        <p:spPr>
          <a:xfrm>
            <a:off x="3136162" y="2319933"/>
            <a:ext cx="3214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D4D"/>
                </a:solidFill>
              </a:rPr>
              <a:t>70%</a:t>
            </a:r>
            <a:endParaRPr lang="en-US" sz="1090" dirty="0"/>
          </a:p>
        </p:txBody>
      </p:sp>
      <p:sp>
        <p:nvSpPr>
          <p:cNvPr id="11" name="Text 8"/>
          <p:cNvSpPr/>
          <p:nvPr/>
        </p:nvSpPr>
        <p:spPr>
          <a:xfrm>
            <a:off x="571500" y="2582466"/>
            <a:ext cx="28860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看了1000张图片后，开始掌握规律。</a:t>
            </a:r>
            <a:endParaRPr lang="en-US" sz="942" dirty="0"/>
          </a:p>
        </p:txBody>
      </p:sp>
      <p:sp>
        <p:nvSpPr>
          <p:cNvPr id="12" name="Shape 9"/>
          <p:cNvSpPr/>
          <p:nvPr/>
        </p:nvSpPr>
        <p:spPr>
          <a:xfrm>
            <a:off x="428625" y="3057525"/>
            <a:ext cx="3171825" cy="780455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1500" y="3200400"/>
            <a:ext cx="93323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</a:rPr>
              <a:t>训练后 (学霸)</a:t>
            </a:r>
            <a:endParaRPr lang="en-US" sz="1090" dirty="0"/>
          </a:p>
        </p:txBody>
      </p:sp>
      <p:sp>
        <p:nvSpPr>
          <p:cNvPr id="14" name="Text 11"/>
          <p:cNvSpPr/>
          <p:nvPr/>
        </p:nvSpPr>
        <p:spPr>
          <a:xfrm>
            <a:off x="3136162" y="3200400"/>
            <a:ext cx="32141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4D4D"/>
                </a:solidFill>
              </a:rPr>
              <a:t>98%</a:t>
            </a: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571500" y="3462933"/>
            <a:ext cx="288607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看了60,000张图片，几乎不会认错！</a:t>
            </a:r>
            <a:endParaRPr lang="en-US" sz="942" dirty="0"/>
          </a:p>
        </p:txBody>
      </p:sp>
      <p:sp>
        <p:nvSpPr>
          <p:cNvPr id="16" name="Shape 13"/>
          <p:cNvSpPr/>
          <p:nvPr/>
        </p:nvSpPr>
        <p:spPr>
          <a:xfrm>
            <a:off x="428625" y="3937992"/>
            <a:ext cx="3171825" cy="857250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765" y="3937992"/>
            <a:ext cx="1517545" cy="85725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957638" y="1415355"/>
            <a:ext cx="4757738" cy="2857500"/>
          </a:xfrm>
          <a:prstGeom prst="rect">
            <a:avLst/>
          </a:prstGeom>
          <a:solidFill>
            <a:srgbClr val="FFFFFF"/>
          </a:solidFill>
          <a:ln w="27432">
            <a:solidFill>
              <a:srgbClr val="2D2D2D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0513" y="1558230"/>
            <a:ext cx="4414838" cy="2514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72072" y="4487168"/>
            <a:ext cx="192884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D2D2D"/>
                </a:solidFill>
              </a:rPr>
              <a:t>机器看的例子越多，准确率越高！</a:t>
            </a:r>
            <a:endParaRPr lang="en-US" sz="88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01000" y="571500"/>
            <a:ext cx="714375" cy="142875"/>
          </a:xfrm>
          <a:prstGeom prst="rect">
            <a:avLst/>
          </a:prstGeom>
          <a:solidFill>
            <a:srgbClr val="FF4D4D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286750" y="285750"/>
            <a:ext cx="142875" cy="714375"/>
          </a:xfrm>
          <a:prstGeom prst="rect">
            <a:avLst/>
          </a:prstGeom>
          <a:solidFill>
            <a:srgbClr val="FF4D4D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01000" y="285750"/>
            <a:ext cx="714375" cy="7143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28625" y="428625"/>
            <a:ext cx="8286750" cy="5822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u="sng" dirty="0">
                <a:solidFill>
                  <a:srgbClr val="FF4D4D"/>
                </a:solidFill>
                <a:uFill>
                  <a:solidFill>
                    <a:srgbClr val="FF4D4D"/>
                  </a:solidFill>
                </a:uFill>
              </a:rPr>
              <a:t>机器也会犯错!</a:t>
            </a:r>
            <a:endParaRPr lang="en-US" sz="2862" dirty="0"/>
          </a:p>
        </p:txBody>
      </p:sp>
      <p:sp>
        <p:nvSpPr>
          <p:cNvPr id="7" name="Shape 4"/>
          <p:cNvSpPr/>
          <p:nvPr/>
        </p:nvSpPr>
        <p:spPr>
          <a:xfrm rot="-120000">
            <a:off x="428625" y="1514475"/>
            <a:ext cx="4325205" cy="2500313"/>
          </a:xfrm>
          <a:prstGeom prst="rect">
            <a:avLst/>
          </a:prstGeom>
          <a:solidFill>
            <a:srgbClr val="FFFFFF"/>
          </a:solidFill>
          <a:ln w="36576">
            <a:solidFill>
              <a:srgbClr val="2D2D2D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-120000">
            <a:off x="500062" y="2187383"/>
            <a:ext cx="4182331" cy="115446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 rot="-120000">
            <a:off x="1676800" y="4193381"/>
            <a:ext cx="1828829" cy="303609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10" name="Text 6"/>
          <p:cNvSpPr/>
          <p:nvPr/>
        </p:nvSpPr>
        <p:spPr>
          <a:xfrm rot="-120000">
            <a:off x="1676800" y="4193382"/>
            <a:ext cx="1828828" cy="303609"/>
          </a:xfrm>
          <a:prstGeom prst="rect">
            <a:avLst/>
          </a:prstGeom>
          <a:noFill/>
          <a:ln/>
        </p:spPr>
        <p:txBody>
          <a:bodyPr wrap="square" lIns="170053" tIns="68072" rIns="170053" bIns="68072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这些数字连机器都看晕了！</a:t>
            </a:r>
            <a:endParaRPr lang="en-US" sz="885" dirty="0"/>
          </a:p>
        </p:txBody>
      </p:sp>
      <p:sp>
        <p:nvSpPr>
          <p:cNvPr id="11" name="Shape 7"/>
          <p:cNvSpPr/>
          <p:nvPr/>
        </p:nvSpPr>
        <p:spPr>
          <a:xfrm>
            <a:off x="5111018" y="1296591"/>
            <a:ext cx="3604357" cy="1159073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968143" y="1690390"/>
            <a:ext cx="285750" cy="285750"/>
          </a:xfrm>
          <a:prstGeom prst="ellipse">
            <a:avLst/>
          </a:prstGeom>
          <a:solidFill>
            <a:srgbClr val="FF4D4D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968143" y="169039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!</a:t>
            </a:r>
            <a:endParaRPr lang="en-US" sz="1193" dirty="0"/>
          </a:p>
        </p:txBody>
      </p:sp>
      <p:sp>
        <p:nvSpPr>
          <p:cNvPr id="14" name="Text 10"/>
          <p:cNvSpPr/>
          <p:nvPr/>
        </p:nvSpPr>
        <p:spPr>
          <a:xfrm>
            <a:off x="5253893" y="1439466"/>
            <a:ext cx="33186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</a:rPr>
              <a:t>容易混淆的数字</a:t>
            </a:r>
            <a:endParaRPr lang="en-US" sz="1090" dirty="0"/>
          </a:p>
        </p:txBody>
      </p:sp>
      <p:sp>
        <p:nvSpPr>
          <p:cNvPr id="15" name="Text 11"/>
          <p:cNvSpPr/>
          <p:nvPr/>
        </p:nvSpPr>
        <p:spPr>
          <a:xfrm>
            <a:off x="5253893" y="1701998"/>
            <a:ext cx="3318607" cy="567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• 把 "4" 看成 "9" (如果写得太潦草)
 • 把 "5" 看成 "3" (如果弯得不够)
 • 把 "1" 看成 "7" (如果头上有个勾)</a:t>
            </a:r>
            <a:endParaRPr lang="en-US" sz="942" dirty="0"/>
          </a:p>
        </p:txBody>
      </p:sp>
      <p:sp>
        <p:nvSpPr>
          <p:cNvPr id="16" name="Shape 12"/>
          <p:cNvSpPr/>
          <p:nvPr/>
        </p:nvSpPr>
        <p:spPr>
          <a:xfrm>
            <a:off x="5111018" y="2555677"/>
            <a:ext cx="3604357" cy="969764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968143" y="2854821"/>
            <a:ext cx="285750" cy="285750"/>
          </a:xfrm>
          <a:prstGeom prst="ellipse">
            <a:avLst/>
          </a:prstGeom>
          <a:solidFill>
            <a:srgbClr val="FF4D4D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968143" y="2854821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!</a:t>
            </a:r>
            <a:endParaRPr lang="en-US" sz="1193" dirty="0"/>
          </a:p>
        </p:txBody>
      </p:sp>
      <p:sp>
        <p:nvSpPr>
          <p:cNvPr id="19" name="Text 15"/>
          <p:cNvSpPr/>
          <p:nvPr/>
        </p:nvSpPr>
        <p:spPr>
          <a:xfrm>
            <a:off x="5253893" y="2698552"/>
            <a:ext cx="33186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</a:rPr>
              <a:t>为什么会错？</a:t>
            </a:r>
            <a:endParaRPr lang="en-US" sz="1090" dirty="0"/>
          </a:p>
        </p:txBody>
      </p:sp>
      <p:sp>
        <p:nvSpPr>
          <p:cNvPr id="20" name="Text 16"/>
          <p:cNvSpPr/>
          <p:nvPr/>
        </p:nvSpPr>
        <p:spPr>
          <a:xfrm>
            <a:off x="5253893" y="2961084"/>
            <a:ext cx="3318607" cy="3786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就像我们有时候也会看错字一样，如果字写得不规范，机器也会困惑。</a:t>
            </a:r>
            <a:endParaRPr lang="en-US" sz="942" dirty="0"/>
          </a:p>
        </p:txBody>
      </p:sp>
      <p:sp>
        <p:nvSpPr>
          <p:cNvPr id="21" name="Shape 17"/>
          <p:cNvSpPr/>
          <p:nvPr/>
        </p:nvSpPr>
        <p:spPr>
          <a:xfrm>
            <a:off x="5111018" y="4159448"/>
            <a:ext cx="3604357" cy="555427"/>
          </a:xfrm>
          <a:prstGeom prst="rect">
            <a:avLst/>
          </a:prstGeom>
          <a:solidFill>
            <a:srgbClr val="4D79FF"/>
          </a:solidFill>
          <a:ln w="18288">
            <a:solidFill>
              <a:srgbClr val="2D2D2D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1319" y="4388048"/>
            <a:ext cx="176808" cy="157163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5759565" y="4357688"/>
            <a:ext cx="2555481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启示：没有人（或机器）是完美的！</a:t>
            </a:r>
            <a:endParaRPr lang="en-US" sz="109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500063"/>
            <a:ext cx="8286750" cy="5822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2D2D2D"/>
                </a:solidFill>
              </a:rPr>
              <a:t>让我们来</a:t>
            </a:r>
            <a:r>
              <a:rPr lang="en-US" sz="2862" b="1" u="sng" dirty="0">
                <a:solidFill>
                  <a:srgbClr val="4D79FF"/>
                </a:solidFill>
                <a:uFill>
                  <a:solidFill>
                    <a:srgbClr val="4D79FF"/>
                  </a:solidFill>
                </a:uFill>
              </a:rPr>
              <a:t>测试</a:t>
            </a:r>
            <a:r>
              <a:rPr lang="en-US" sz="2862" b="1" dirty="0">
                <a:solidFill>
                  <a:srgbClr val="2D2D2D"/>
                </a:solidFill>
              </a:rPr>
              <a:t>机器!</a:t>
            </a:r>
            <a:endParaRPr lang="en-US" sz="2862" dirty="0"/>
          </a:p>
        </p:txBody>
      </p:sp>
      <p:sp>
        <p:nvSpPr>
          <p:cNvPr id="4" name="Shape 1"/>
          <p:cNvSpPr/>
          <p:nvPr/>
        </p:nvSpPr>
        <p:spPr>
          <a:xfrm>
            <a:off x="428625" y="1368028"/>
            <a:ext cx="3929063" cy="614363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35781" y="1475184"/>
            <a:ext cx="357188" cy="357188"/>
          </a:xfrm>
          <a:prstGeom prst="rect">
            <a:avLst/>
          </a:prstGeom>
          <a:solidFill>
            <a:srgbClr val="FF4D4D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5781" y="1475184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1</a:t>
            </a:r>
            <a:endParaRPr lang="en-US" sz="1397" dirty="0"/>
          </a:p>
        </p:txBody>
      </p:sp>
      <p:sp>
        <p:nvSpPr>
          <p:cNvPr id="7" name="Text 4"/>
          <p:cNvSpPr/>
          <p:nvPr/>
        </p:nvSpPr>
        <p:spPr>
          <a:xfrm>
            <a:off x="1035844" y="1540371"/>
            <a:ext cx="172661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</a:rPr>
              <a:t>在纸上写一个 0-9 的数字</a:t>
            </a:r>
            <a:endParaRPr lang="en-US" sz="1090" dirty="0"/>
          </a:p>
        </p:txBody>
      </p:sp>
      <p:sp>
        <p:nvSpPr>
          <p:cNvPr id="8" name="Shape 5"/>
          <p:cNvSpPr/>
          <p:nvPr/>
        </p:nvSpPr>
        <p:spPr>
          <a:xfrm>
            <a:off x="428625" y="2118122"/>
            <a:ext cx="3929063" cy="614363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5781" y="2225278"/>
            <a:ext cx="357188" cy="357188"/>
          </a:xfrm>
          <a:prstGeom prst="rect">
            <a:avLst/>
          </a:prstGeom>
          <a:solidFill>
            <a:srgbClr val="FF4D4D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5781" y="2225278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2</a:t>
            </a:r>
            <a:endParaRPr lang="en-US" sz="1397" dirty="0"/>
          </a:p>
        </p:txBody>
      </p:sp>
      <p:sp>
        <p:nvSpPr>
          <p:cNvPr id="11" name="Text 8"/>
          <p:cNvSpPr/>
          <p:nvPr/>
        </p:nvSpPr>
        <p:spPr>
          <a:xfrm>
            <a:off x="1035844" y="2290465"/>
            <a:ext cx="125732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</a:rPr>
              <a:t>用手机或平板拍照</a:t>
            </a:r>
            <a:endParaRPr lang="en-US" sz="1090" dirty="0"/>
          </a:p>
        </p:txBody>
      </p:sp>
      <p:sp>
        <p:nvSpPr>
          <p:cNvPr id="12" name="Shape 9"/>
          <p:cNvSpPr/>
          <p:nvPr/>
        </p:nvSpPr>
        <p:spPr>
          <a:xfrm>
            <a:off x="428625" y="2868216"/>
            <a:ext cx="3929063" cy="614363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35781" y="2975372"/>
            <a:ext cx="357188" cy="357188"/>
          </a:xfrm>
          <a:prstGeom prst="rect">
            <a:avLst/>
          </a:prstGeom>
          <a:solidFill>
            <a:srgbClr val="FF4D4D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5781" y="2975372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3</a:t>
            </a:r>
            <a:endParaRPr lang="en-US" sz="1397" dirty="0"/>
          </a:p>
        </p:txBody>
      </p:sp>
      <p:sp>
        <p:nvSpPr>
          <p:cNvPr id="15" name="Text 12"/>
          <p:cNvSpPr/>
          <p:nvPr/>
        </p:nvSpPr>
        <p:spPr>
          <a:xfrm>
            <a:off x="1035844" y="3040559"/>
            <a:ext cx="157165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</a:rPr>
              <a:t>让训练好的模型来识别</a:t>
            </a:r>
            <a:endParaRPr lang="en-US" sz="1090" dirty="0"/>
          </a:p>
        </p:txBody>
      </p:sp>
      <p:sp>
        <p:nvSpPr>
          <p:cNvPr id="16" name="Shape 13"/>
          <p:cNvSpPr/>
          <p:nvPr/>
        </p:nvSpPr>
        <p:spPr>
          <a:xfrm>
            <a:off x="428625" y="3618309"/>
            <a:ext cx="3929063" cy="614363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35781" y="3725466"/>
            <a:ext cx="357188" cy="357188"/>
          </a:xfrm>
          <a:prstGeom prst="rect">
            <a:avLst/>
          </a:prstGeom>
          <a:solidFill>
            <a:srgbClr val="FF4D4D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5781" y="3725466"/>
            <a:ext cx="357188" cy="35718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97" b="1" dirty="0">
                <a:solidFill>
                  <a:srgbClr val="FFFFFF"/>
                </a:solidFill>
              </a:rPr>
              <a:t>4</a:t>
            </a:r>
            <a:endParaRPr lang="en-US" sz="1397" dirty="0"/>
          </a:p>
        </p:txBody>
      </p:sp>
      <p:sp>
        <p:nvSpPr>
          <p:cNvPr id="19" name="Text 16"/>
          <p:cNvSpPr/>
          <p:nvPr/>
        </p:nvSpPr>
        <p:spPr>
          <a:xfrm>
            <a:off x="1035844" y="3790652"/>
            <a:ext cx="172881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</a:rPr>
              <a:t>看看机器能不能认出来！</a:t>
            </a:r>
            <a:endParaRPr lang="en-US" sz="1090" dirty="0"/>
          </a:p>
        </p:txBody>
      </p:sp>
      <p:sp>
        <p:nvSpPr>
          <p:cNvPr id="20" name="Shape 17"/>
          <p:cNvSpPr/>
          <p:nvPr/>
        </p:nvSpPr>
        <p:spPr>
          <a:xfrm>
            <a:off x="428625" y="4511278"/>
            <a:ext cx="3929063" cy="1147270"/>
          </a:xfrm>
          <a:prstGeom prst="rect">
            <a:avLst/>
          </a:prstGeom>
          <a:solidFill>
            <a:srgbClr val="2D2D2D"/>
          </a:solidFill>
          <a:ln w="18288">
            <a:solidFill>
              <a:srgbClr val="FF4D4D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4693444"/>
            <a:ext cx="178594" cy="142875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50094" y="4666655"/>
            <a:ext cx="60867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4D4D"/>
                </a:solidFill>
              </a:rPr>
              <a:t>挑战任务</a:t>
            </a:r>
            <a:endParaRPr lang="en-US" sz="987" dirty="0"/>
          </a:p>
        </p:txBody>
      </p:sp>
      <p:sp>
        <p:nvSpPr>
          <p:cNvPr id="23" name="Text 19"/>
          <p:cNvSpPr/>
          <p:nvPr/>
        </p:nvSpPr>
        <p:spPr>
          <a:xfrm>
            <a:off x="571500" y="4932759"/>
            <a:ext cx="3643313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试试写不同风格的数字：
 工整的、潦草的、巨大的、微小的...
 看看哪种最容易被认错？</a:t>
            </a:r>
            <a:endParaRPr lang="en-US" sz="942" dirty="0"/>
          </a:p>
        </p:txBody>
      </p:sp>
      <p:sp>
        <p:nvSpPr>
          <p:cNvPr id="24" name="Shape 20"/>
          <p:cNvSpPr/>
          <p:nvPr/>
        </p:nvSpPr>
        <p:spPr>
          <a:xfrm>
            <a:off x="5607844" y="1705905"/>
            <a:ext cx="2286000" cy="3571875"/>
          </a:xfrm>
          <a:prstGeom prst="rect">
            <a:avLst/>
          </a:prstGeom>
          <a:solidFill>
            <a:srgbClr val="333333"/>
          </a:solidFill>
          <a:ln w="27432">
            <a:solidFill>
              <a:srgbClr val="2D2D2D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715000" y="1813061"/>
            <a:ext cx="2071688" cy="3357563"/>
          </a:xfrm>
          <a:prstGeom prst="rect">
            <a:avLst/>
          </a:prstGeom>
          <a:solidFill>
            <a:srgbClr val="FFFFFF"/>
          </a:solidFill>
          <a:ln w="18288">
            <a:solidFill>
              <a:srgbClr val="000000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1813061"/>
            <a:ext cx="2071688" cy="33575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5822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2D2D2D"/>
                </a:solidFill>
              </a:rPr>
              <a:t>AI在生活中的应用</a:t>
            </a:r>
            <a:endParaRPr lang="en-US" sz="2862" dirty="0"/>
          </a:p>
        </p:txBody>
      </p:sp>
      <p:sp>
        <p:nvSpPr>
          <p:cNvPr id="4" name="Shape 1"/>
          <p:cNvSpPr/>
          <p:nvPr/>
        </p:nvSpPr>
        <p:spPr>
          <a:xfrm>
            <a:off x="428625" y="1153716"/>
            <a:ext cx="3600450" cy="557213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35781" y="1232297"/>
            <a:ext cx="357188" cy="357188"/>
          </a:xfrm>
          <a:prstGeom prst="rect">
            <a:avLst/>
          </a:prstGeom>
          <a:solidFill>
            <a:srgbClr val="FF4D4D"/>
          </a:solidFill>
          <a:ln w="18288">
            <a:solidFill>
              <a:srgbClr val="2D2D2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081" y="1325166"/>
            <a:ext cx="128588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0125" y="1225153"/>
            <a:ext cx="112701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2D2D"/>
                </a:solidFill>
              </a:rPr>
              <a:t>手机解锁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1000125" y="1432322"/>
            <a:ext cx="112701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人脸识别 (认出你的脸)</a:t>
            </a:r>
            <a:endParaRPr lang="en-US" sz="834" dirty="0"/>
          </a:p>
        </p:txBody>
      </p:sp>
      <p:sp>
        <p:nvSpPr>
          <p:cNvPr id="9" name="Shape 5"/>
          <p:cNvSpPr/>
          <p:nvPr/>
        </p:nvSpPr>
        <p:spPr>
          <a:xfrm>
            <a:off x="428625" y="1702891"/>
            <a:ext cx="3600450" cy="557213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35781" y="1792188"/>
            <a:ext cx="357188" cy="357188"/>
          </a:xfrm>
          <a:prstGeom prst="rect">
            <a:avLst/>
          </a:prstGeom>
          <a:solidFill>
            <a:srgbClr val="4D79FF"/>
          </a:solidFill>
          <a:ln w="18288">
            <a:solidFill>
              <a:srgbClr val="2D2D2D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081" y="1885057"/>
            <a:ext cx="128588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0125" y="1785045"/>
            <a:ext cx="122417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2D2D"/>
                </a:solidFill>
              </a:rPr>
              <a:t>语音助手</a:t>
            </a:r>
            <a:endParaRPr lang="en-US" sz="987" dirty="0"/>
          </a:p>
        </p:txBody>
      </p:sp>
      <p:sp>
        <p:nvSpPr>
          <p:cNvPr id="13" name="Text 8"/>
          <p:cNvSpPr/>
          <p:nvPr/>
        </p:nvSpPr>
        <p:spPr>
          <a:xfrm>
            <a:off x="1000125" y="1992213"/>
            <a:ext cx="1224176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Siri/小爱 (听懂你说的话)</a:t>
            </a:r>
            <a:endParaRPr lang="en-US" sz="834" dirty="0"/>
          </a:p>
        </p:txBody>
      </p:sp>
      <p:sp>
        <p:nvSpPr>
          <p:cNvPr id="14" name="Shape 9"/>
          <p:cNvSpPr/>
          <p:nvPr/>
        </p:nvSpPr>
        <p:spPr>
          <a:xfrm>
            <a:off x="428625" y="2273498"/>
            <a:ext cx="3600450" cy="557213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35781" y="2373511"/>
            <a:ext cx="357188" cy="357188"/>
          </a:xfrm>
          <a:prstGeom prst="rect">
            <a:avLst/>
          </a:prstGeom>
          <a:solidFill>
            <a:srgbClr val="FF4D4D"/>
          </a:solidFill>
          <a:ln w="18288">
            <a:solidFill>
              <a:srgbClr val="2D2D2D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934" y="2466380"/>
            <a:ext cx="192881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0125" y="2366367"/>
            <a:ext cx="12573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2D2D"/>
                </a:solidFill>
              </a:rPr>
              <a:t>照片分类</a:t>
            </a:r>
            <a:endParaRPr lang="en-US" sz="987" dirty="0"/>
          </a:p>
        </p:txBody>
      </p:sp>
      <p:sp>
        <p:nvSpPr>
          <p:cNvPr id="18" name="Text 12"/>
          <p:cNvSpPr/>
          <p:nvPr/>
        </p:nvSpPr>
        <p:spPr>
          <a:xfrm>
            <a:off x="1000125" y="2573536"/>
            <a:ext cx="12573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自动把猫和狗的照片分开</a:t>
            </a:r>
            <a:endParaRPr lang="en-US" sz="834" dirty="0"/>
          </a:p>
        </p:txBody>
      </p:sp>
      <p:sp>
        <p:nvSpPr>
          <p:cNvPr id="19" name="Shape 13"/>
          <p:cNvSpPr/>
          <p:nvPr/>
        </p:nvSpPr>
        <p:spPr>
          <a:xfrm>
            <a:off x="428625" y="2865537"/>
            <a:ext cx="3600450" cy="557213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35781" y="2976265"/>
            <a:ext cx="357188" cy="357188"/>
          </a:xfrm>
          <a:prstGeom prst="rect">
            <a:avLst/>
          </a:prstGeom>
          <a:solidFill>
            <a:srgbClr val="4D79FF"/>
          </a:solidFill>
          <a:ln w="18288">
            <a:solidFill>
              <a:srgbClr val="2D2D2D"/>
            </a:solidFill>
            <a:prstDash val="solid"/>
          </a:ln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219" y="3069134"/>
            <a:ext cx="214313" cy="17145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00125" y="2969121"/>
            <a:ext cx="13716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2D2D"/>
                </a:solidFill>
              </a:rPr>
              <a:t>游戏对手</a:t>
            </a:r>
            <a:endParaRPr lang="en-US" sz="987" dirty="0"/>
          </a:p>
        </p:txBody>
      </p:sp>
      <p:sp>
        <p:nvSpPr>
          <p:cNvPr id="23" name="Text 16"/>
          <p:cNvSpPr/>
          <p:nvPr/>
        </p:nvSpPr>
        <p:spPr>
          <a:xfrm>
            <a:off x="1000125" y="3176290"/>
            <a:ext cx="13716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聪明的电脑玩家会学习战术</a:t>
            </a:r>
            <a:endParaRPr lang="en-US" sz="834" dirty="0"/>
          </a:p>
        </p:txBody>
      </p:sp>
      <p:sp>
        <p:nvSpPr>
          <p:cNvPr id="24" name="Shape 17"/>
          <p:cNvSpPr/>
          <p:nvPr/>
        </p:nvSpPr>
        <p:spPr>
          <a:xfrm>
            <a:off x="428625" y="3479006"/>
            <a:ext cx="3600450" cy="557213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535781" y="3600450"/>
            <a:ext cx="357188" cy="357188"/>
          </a:xfrm>
          <a:prstGeom prst="rect">
            <a:avLst/>
          </a:prstGeom>
          <a:solidFill>
            <a:srgbClr val="FF4D4D"/>
          </a:solidFill>
          <a:ln w="18288">
            <a:solidFill>
              <a:srgbClr val="2D2D2D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8650" y="3693319"/>
            <a:ext cx="171450" cy="17145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00125" y="3593306"/>
            <a:ext cx="14859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2D2D2D"/>
                </a:solidFill>
              </a:rPr>
              <a:t>推荐系统</a:t>
            </a:r>
            <a:endParaRPr lang="en-US" sz="987" dirty="0"/>
          </a:p>
        </p:txBody>
      </p:sp>
      <p:sp>
        <p:nvSpPr>
          <p:cNvPr id="28" name="Text 20"/>
          <p:cNvSpPr/>
          <p:nvPr/>
        </p:nvSpPr>
        <p:spPr>
          <a:xfrm>
            <a:off x="1000125" y="3800475"/>
            <a:ext cx="148590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推荐你可能喜欢的视频或音乐</a:t>
            </a:r>
            <a:endParaRPr lang="en-US" sz="834" dirty="0"/>
          </a:p>
        </p:txBody>
      </p:sp>
      <p:sp>
        <p:nvSpPr>
          <p:cNvPr id="29" name="Shape 21"/>
          <p:cNvSpPr/>
          <p:nvPr/>
        </p:nvSpPr>
        <p:spPr>
          <a:xfrm>
            <a:off x="4314825" y="1237655"/>
            <a:ext cx="4400550" cy="2857500"/>
          </a:xfrm>
          <a:prstGeom prst="rect">
            <a:avLst/>
          </a:prstGeom>
          <a:solidFill>
            <a:srgbClr val="FFFFFF"/>
          </a:solidFill>
          <a:ln w="36576">
            <a:solidFill>
              <a:srgbClr val="2D2D2D"/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6263" y="1309092"/>
            <a:ext cx="4257675" cy="2714625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1257300" y="4321969"/>
            <a:ext cx="6629400" cy="464344"/>
          </a:xfrm>
          <a:prstGeom prst="roundRect">
            <a:avLst/>
          </a:prstGeom>
          <a:solidFill>
            <a:srgbClr val="2D2D2D"/>
          </a:solidFill>
          <a:ln w="18288">
            <a:solidFill>
              <a:srgbClr val="FF4D4D"/>
            </a:solidFill>
            <a:prstDash val="solid"/>
          </a:ln>
        </p:spPr>
      </p:sp>
      <p:sp>
        <p:nvSpPr>
          <p:cNvPr id="32" name="Text 23"/>
          <p:cNvSpPr/>
          <p:nvPr/>
        </p:nvSpPr>
        <p:spPr>
          <a:xfrm>
            <a:off x="1257300" y="4321969"/>
            <a:ext cx="6629400" cy="464344"/>
          </a:xfrm>
          <a:prstGeom prst="rect">
            <a:avLst/>
          </a:prstGeom>
          <a:noFill/>
          <a:ln/>
        </p:spPr>
        <p:txBody>
          <a:bodyPr wrap="square" lIns="127508" tIns="127508" rIns="127508" bIns="127508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共同点：它们都是通过大量学习来变聪明的！</a:t>
            </a:r>
            <a:endParaRPr lang="en-US" sz="98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5875" y="357188"/>
            <a:ext cx="7429500" cy="5822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2D2D2D"/>
                </a:solidFill>
              </a:rPr>
              <a:t>你也可以训练AI!</a:t>
            </a:r>
            <a:endParaRPr lang="en-US" sz="2862" dirty="0"/>
          </a:p>
        </p:txBody>
      </p:sp>
      <p:sp>
        <p:nvSpPr>
          <p:cNvPr id="4" name="Shape 1"/>
          <p:cNvSpPr/>
          <p:nvPr/>
        </p:nvSpPr>
        <p:spPr>
          <a:xfrm>
            <a:off x="1285875" y="1225153"/>
            <a:ext cx="3500438" cy="767953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28750" y="1373386"/>
            <a:ext cx="428625" cy="428625"/>
          </a:xfrm>
          <a:prstGeom prst="ellipse">
            <a:avLst/>
          </a:prstGeom>
          <a:solidFill>
            <a:srgbClr val="4D79FF"/>
          </a:solidFill>
          <a:ln w="18288">
            <a:solidFill>
              <a:srgbClr val="2D2D2D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050" y="1487686"/>
            <a:ext cx="200025" cy="2000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000250" y="1368028"/>
            <a:ext cx="205458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</a:rPr>
              <a:t>Teachable Machine</a:t>
            </a:r>
            <a:endParaRPr lang="en-US" sz="1090" dirty="0"/>
          </a:p>
        </p:txBody>
      </p:sp>
      <p:sp>
        <p:nvSpPr>
          <p:cNvPr id="8" name="Text 4"/>
          <p:cNvSpPr/>
          <p:nvPr/>
        </p:nvSpPr>
        <p:spPr>
          <a:xfrm>
            <a:off x="2000250" y="1618059"/>
            <a:ext cx="205458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用摄像头教AI认识不同的手势或物体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1285875" y="2128838"/>
            <a:ext cx="3500438" cy="767953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428750" y="2277070"/>
            <a:ext cx="428625" cy="428625"/>
          </a:xfrm>
          <a:prstGeom prst="ellipse">
            <a:avLst/>
          </a:prstGeom>
          <a:solidFill>
            <a:srgbClr val="FF4D4D"/>
          </a:solidFill>
          <a:ln w="18288">
            <a:solidFill>
              <a:srgbClr val="2D2D2D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30548" y="2391370"/>
            <a:ext cx="225028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000250" y="2271713"/>
            <a:ext cx="23686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</a:rPr>
              <a:t>Scratch + AI</a:t>
            </a:r>
            <a:endParaRPr lang="en-US" sz="1090" dirty="0"/>
          </a:p>
        </p:txBody>
      </p:sp>
      <p:sp>
        <p:nvSpPr>
          <p:cNvPr id="13" name="Text 8"/>
          <p:cNvSpPr/>
          <p:nvPr/>
        </p:nvSpPr>
        <p:spPr>
          <a:xfrm>
            <a:off x="2000250" y="2521744"/>
            <a:ext cx="236860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在Scratch积木里加入AI功能，做智能游戏</a:t>
            </a:r>
            <a:endParaRPr lang="en-US" sz="942" dirty="0"/>
          </a:p>
        </p:txBody>
      </p:sp>
      <p:sp>
        <p:nvSpPr>
          <p:cNvPr id="14" name="Shape 9"/>
          <p:cNvSpPr/>
          <p:nvPr/>
        </p:nvSpPr>
        <p:spPr>
          <a:xfrm>
            <a:off x="1285875" y="3032522"/>
            <a:ext cx="3500438" cy="780455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428750" y="3187005"/>
            <a:ext cx="428625" cy="428625"/>
          </a:xfrm>
          <a:prstGeom prst="ellipse">
            <a:avLst/>
          </a:prstGeom>
          <a:solidFill>
            <a:srgbClr val="FFD700"/>
          </a:solidFill>
          <a:ln w="18288">
            <a:solidFill>
              <a:srgbClr val="2D2D2D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3050" y="3301305"/>
            <a:ext cx="200025" cy="20002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000250" y="3175397"/>
            <a:ext cx="20545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2D2D2D"/>
                </a:solidFill>
              </a:rPr>
              <a:t>AI 绘画工具</a:t>
            </a:r>
            <a:endParaRPr lang="en-US" sz="1090" dirty="0"/>
          </a:p>
        </p:txBody>
      </p:sp>
      <p:sp>
        <p:nvSpPr>
          <p:cNvPr id="18" name="Text 12"/>
          <p:cNvSpPr/>
          <p:nvPr/>
        </p:nvSpPr>
        <p:spPr>
          <a:xfrm>
            <a:off x="2000250" y="3437930"/>
            <a:ext cx="2054582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描述你想要的画面，让AI帮你画出来</a:t>
            </a:r>
            <a:endParaRPr lang="en-US" sz="942" dirty="0"/>
          </a:p>
        </p:txBody>
      </p:sp>
      <p:sp>
        <p:nvSpPr>
          <p:cNvPr id="19" name="Shape 13"/>
          <p:cNvSpPr/>
          <p:nvPr/>
        </p:nvSpPr>
        <p:spPr>
          <a:xfrm>
            <a:off x="5214938" y="1225153"/>
            <a:ext cx="3500438" cy="2143125"/>
          </a:xfrm>
          <a:prstGeom prst="rect">
            <a:avLst/>
          </a:prstGeom>
          <a:solidFill>
            <a:srgbClr val="FFFFFF"/>
          </a:solidFill>
          <a:ln w="27432">
            <a:solidFill>
              <a:srgbClr val="2D2D2D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86375" y="1356838"/>
            <a:ext cx="3357563" cy="1879755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 rot="120000">
            <a:off x="5214938" y="3582591"/>
            <a:ext cx="3500438" cy="742950"/>
          </a:xfrm>
          <a:prstGeom prst="rect">
            <a:avLst/>
          </a:prstGeom>
          <a:solidFill>
            <a:srgbClr val="2D2D2D"/>
          </a:solidFill>
          <a:ln w="18288">
            <a:solidFill>
              <a:srgbClr val="4D79FF"/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20000">
            <a:off x="6128874" y="3737989"/>
            <a:ext cx="142875" cy="142875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 rot="120000">
            <a:off x="6343076" y="3719328"/>
            <a:ext cx="18004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不</a:t>
            </a:r>
            <a:endParaRPr lang="en-US" sz="987" dirty="0"/>
          </a:p>
        </p:txBody>
      </p:sp>
      <p:sp>
        <p:nvSpPr>
          <p:cNvPr id="24" name="Text 16"/>
          <p:cNvSpPr/>
          <p:nvPr/>
        </p:nvSpPr>
        <p:spPr>
          <a:xfrm rot="120000">
            <a:off x="6523022" y="3724963"/>
            <a:ext cx="142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需</a:t>
            </a:r>
            <a:endParaRPr lang="en-US" sz="987" dirty="0"/>
          </a:p>
        </p:txBody>
      </p:sp>
      <p:sp>
        <p:nvSpPr>
          <p:cNvPr id="25" name="Text 17"/>
          <p:cNvSpPr/>
          <p:nvPr/>
        </p:nvSpPr>
        <p:spPr>
          <a:xfrm rot="120000">
            <a:off x="6665767" y="3732442"/>
            <a:ext cx="285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要写</a:t>
            </a:r>
            <a:endParaRPr lang="en-US" sz="987" dirty="0"/>
          </a:p>
        </p:txBody>
      </p:sp>
      <p:sp>
        <p:nvSpPr>
          <p:cNvPr id="26" name="Text 18"/>
          <p:cNvSpPr/>
          <p:nvPr/>
        </p:nvSpPr>
        <p:spPr>
          <a:xfrm rot="120000">
            <a:off x="6951386" y="3739922"/>
            <a:ext cx="142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复</a:t>
            </a:r>
            <a:endParaRPr lang="en-US" sz="987" dirty="0"/>
          </a:p>
        </p:txBody>
      </p:sp>
      <p:sp>
        <p:nvSpPr>
          <p:cNvPr id="27" name="Text 19"/>
          <p:cNvSpPr/>
          <p:nvPr/>
        </p:nvSpPr>
        <p:spPr>
          <a:xfrm rot="120000">
            <a:off x="7094174" y="3744908"/>
            <a:ext cx="142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杂</a:t>
            </a:r>
            <a:endParaRPr lang="en-US" sz="987" dirty="0"/>
          </a:p>
        </p:txBody>
      </p:sp>
      <p:sp>
        <p:nvSpPr>
          <p:cNvPr id="28" name="Text 20"/>
          <p:cNvSpPr/>
          <p:nvPr/>
        </p:nvSpPr>
        <p:spPr>
          <a:xfrm rot="120000">
            <a:off x="7236919" y="3752387"/>
            <a:ext cx="28574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的代</a:t>
            </a:r>
            <a:endParaRPr lang="en-US" sz="987" dirty="0"/>
          </a:p>
        </p:txBody>
      </p:sp>
      <p:sp>
        <p:nvSpPr>
          <p:cNvPr id="29" name="Text 21"/>
          <p:cNvSpPr/>
          <p:nvPr/>
        </p:nvSpPr>
        <p:spPr>
          <a:xfrm rot="120000">
            <a:off x="7522538" y="3759867"/>
            <a:ext cx="142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码</a:t>
            </a:r>
            <a:endParaRPr lang="en-US" sz="987" dirty="0"/>
          </a:p>
        </p:txBody>
      </p:sp>
      <p:sp>
        <p:nvSpPr>
          <p:cNvPr id="30" name="Text 22"/>
          <p:cNvSpPr/>
          <p:nvPr/>
        </p:nvSpPr>
        <p:spPr>
          <a:xfrm rot="120000">
            <a:off x="7665326" y="3764853"/>
            <a:ext cx="142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，</a:t>
            </a:r>
            <a:endParaRPr lang="en-US" sz="987" dirty="0"/>
          </a:p>
        </p:txBody>
      </p:sp>
      <p:sp>
        <p:nvSpPr>
          <p:cNvPr id="31" name="Text 23"/>
          <p:cNvSpPr/>
          <p:nvPr/>
        </p:nvSpPr>
        <p:spPr>
          <a:xfrm rot="120000">
            <a:off x="5956102" y="3912461"/>
            <a:ext cx="142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每</a:t>
            </a:r>
            <a:endParaRPr lang="en-US" sz="987" dirty="0"/>
          </a:p>
        </p:txBody>
      </p:sp>
      <p:sp>
        <p:nvSpPr>
          <p:cNvPr id="32" name="Text 24"/>
          <p:cNvSpPr/>
          <p:nvPr/>
        </p:nvSpPr>
        <p:spPr>
          <a:xfrm rot="120000">
            <a:off x="6098891" y="3917447"/>
            <a:ext cx="142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个</a:t>
            </a:r>
            <a:endParaRPr lang="en-US" sz="987" dirty="0"/>
          </a:p>
        </p:txBody>
      </p:sp>
      <p:sp>
        <p:nvSpPr>
          <p:cNvPr id="33" name="Text 25"/>
          <p:cNvSpPr/>
          <p:nvPr/>
        </p:nvSpPr>
        <p:spPr>
          <a:xfrm rot="120000">
            <a:off x="6241635" y="3924926"/>
            <a:ext cx="285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人都</a:t>
            </a:r>
            <a:endParaRPr lang="en-US" sz="987" dirty="0"/>
          </a:p>
        </p:txBody>
      </p:sp>
      <p:sp>
        <p:nvSpPr>
          <p:cNvPr id="34" name="Text 26"/>
          <p:cNvSpPr/>
          <p:nvPr/>
        </p:nvSpPr>
        <p:spPr>
          <a:xfrm rot="120000">
            <a:off x="6527254" y="3932406"/>
            <a:ext cx="142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可</a:t>
            </a:r>
            <a:endParaRPr lang="en-US" sz="987" dirty="0"/>
          </a:p>
        </p:txBody>
      </p:sp>
      <p:sp>
        <p:nvSpPr>
          <p:cNvPr id="35" name="Text 27"/>
          <p:cNvSpPr/>
          <p:nvPr/>
        </p:nvSpPr>
        <p:spPr>
          <a:xfrm rot="120000">
            <a:off x="6670042" y="3937392"/>
            <a:ext cx="142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以</a:t>
            </a:r>
            <a:endParaRPr lang="en-US" sz="987" dirty="0"/>
          </a:p>
        </p:txBody>
      </p:sp>
      <p:sp>
        <p:nvSpPr>
          <p:cNvPr id="36" name="Text 28"/>
          <p:cNvSpPr/>
          <p:nvPr/>
        </p:nvSpPr>
        <p:spPr>
          <a:xfrm rot="120000">
            <a:off x="6812787" y="3944871"/>
            <a:ext cx="285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成为</a:t>
            </a:r>
            <a:endParaRPr lang="en-US" sz="987" dirty="0"/>
          </a:p>
        </p:txBody>
      </p:sp>
      <p:sp>
        <p:nvSpPr>
          <p:cNvPr id="37" name="Text 29"/>
          <p:cNvSpPr/>
          <p:nvPr/>
        </p:nvSpPr>
        <p:spPr>
          <a:xfrm rot="120000">
            <a:off x="7098403" y="3952548"/>
            <a:ext cx="15417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AI</a:t>
            </a:r>
            <a:endParaRPr lang="en-US" sz="987" dirty="0"/>
          </a:p>
        </p:txBody>
      </p:sp>
      <p:sp>
        <p:nvSpPr>
          <p:cNvPr id="38" name="Text 30"/>
          <p:cNvSpPr/>
          <p:nvPr/>
        </p:nvSpPr>
        <p:spPr>
          <a:xfrm rot="120000">
            <a:off x="7252445" y="3960224"/>
            <a:ext cx="285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的小</a:t>
            </a:r>
            <a:endParaRPr lang="en-US" sz="987" dirty="0"/>
          </a:p>
        </p:txBody>
      </p:sp>
      <p:sp>
        <p:nvSpPr>
          <p:cNvPr id="39" name="Text 31"/>
          <p:cNvSpPr/>
          <p:nvPr/>
        </p:nvSpPr>
        <p:spPr>
          <a:xfrm rot="120000">
            <a:off x="7538065" y="3967704"/>
            <a:ext cx="1428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老</a:t>
            </a:r>
            <a:endParaRPr lang="en-US" sz="987" dirty="0"/>
          </a:p>
        </p:txBody>
      </p:sp>
      <p:sp>
        <p:nvSpPr>
          <p:cNvPr id="40" name="Text 32"/>
          <p:cNvSpPr/>
          <p:nvPr/>
        </p:nvSpPr>
        <p:spPr>
          <a:xfrm rot="120000">
            <a:off x="7680809" y="3975183"/>
            <a:ext cx="285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师！</a:t>
            </a:r>
            <a:endParaRPr lang="en-US" sz="987" dirty="0"/>
          </a:p>
        </p:txBody>
      </p:sp>
      <p:sp>
        <p:nvSpPr>
          <p:cNvPr id="41" name="Text 33"/>
          <p:cNvSpPr/>
          <p:nvPr/>
        </p:nvSpPr>
        <p:spPr>
          <a:xfrm rot="120000">
            <a:off x="7966472" y="3980170"/>
            <a:ext cx="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endParaRPr lang="en-US" sz="987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0063" y="917972"/>
            <a:ext cx="8286750" cy="57150"/>
          </a:xfrm>
          <a:prstGeom prst="rect">
            <a:avLst/>
          </a:prstGeom>
          <a:solidFill>
            <a:srgbClr val="4D79FF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28625" y="428625"/>
            <a:ext cx="8286750" cy="58221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2862" b="1" dirty="0">
                <a:solidFill>
                  <a:srgbClr val="2D2D2D"/>
                </a:solidFill>
              </a:rPr>
              <a:t>今天我们学到了什么?</a:t>
            </a:r>
            <a:endParaRPr lang="en-US" sz="2862" dirty="0"/>
          </a:p>
        </p:txBody>
      </p:sp>
      <p:sp>
        <p:nvSpPr>
          <p:cNvPr id="5" name="Shape 2"/>
          <p:cNvSpPr/>
          <p:nvPr/>
        </p:nvSpPr>
        <p:spPr>
          <a:xfrm>
            <a:off x="428625" y="1296591"/>
            <a:ext cx="4714875" cy="485775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5781" y="1403747"/>
            <a:ext cx="228600" cy="228600"/>
          </a:xfrm>
          <a:prstGeom prst="ellipse">
            <a:avLst/>
          </a:prstGeom>
          <a:solidFill>
            <a:srgbClr val="4D79FF"/>
          </a:solidFill>
          <a:ln w="18288">
            <a:solidFill>
              <a:srgbClr val="2D2D2D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31" y="1460897"/>
            <a:ext cx="114300" cy="1143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1538" y="1403747"/>
            <a:ext cx="312131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2D2D2D"/>
                </a:solidFill>
              </a:rPr>
              <a:t>机器需要通过</a:t>
            </a:r>
            <a:r>
              <a:rPr lang="en-US" sz="1090" b="1" dirty="0">
                <a:solidFill>
                  <a:srgbClr val="2D2D2D"/>
                </a:solidFill>
              </a:rPr>
              <a:t>大量例子</a:t>
            </a:r>
            <a:r>
              <a:rPr lang="en-US" sz="1159" dirty="0">
                <a:solidFill>
                  <a:srgbClr val="2D2D2D"/>
                </a:solidFill>
              </a:rPr>
              <a:t>来学习 (就像我们上学)</a:t>
            </a:r>
            <a:endParaRPr lang="en-US" sz="1159" dirty="0"/>
          </a:p>
        </p:txBody>
      </p:sp>
      <p:sp>
        <p:nvSpPr>
          <p:cNvPr id="9" name="Shape 5"/>
          <p:cNvSpPr/>
          <p:nvPr/>
        </p:nvSpPr>
        <p:spPr>
          <a:xfrm>
            <a:off x="428625" y="1918097"/>
            <a:ext cx="4714875" cy="485775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35781" y="2025253"/>
            <a:ext cx="228600" cy="228600"/>
          </a:xfrm>
          <a:prstGeom prst="ellipse">
            <a:avLst/>
          </a:prstGeom>
          <a:solidFill>
            <a:srgbClr val="4D79FF"/>
          </a:solidFill>
          <a:ln w="18288">
            <a:solidFill>
              <a:srgbClr val="2D2D2D"/>
            </a:solidFill>
            <a:prstDash val="solid"/>
          </a:ln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31" y="2082403"/>
            <a:ext cx="114300" cy="114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1538" y="2025253"/>
            <a:ext cx="312131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2D2D2D"/>
                </a:solidFill>
              </a:rPr>
              <a:t>机器用</a:t>
            </a:r>
            <a:r>
              <a:rPr lang="en-US" sz="1090" b="1" dirty="0">
                <a:solidFill>
                  <a:srgbClr val="2D2D2D"/>
                </a:solidFill>
              </a:rPr>
              <a:t>神经网络</a:t>
            </a:r>
            <a:r>
              <a:rPr lang="en-US" sz="1159" dirty="0">
                <a:solidFill>
                  <a:srgbClr val="2D2D2D"/>
                </a:solidFill>
              </a:rPr>
              <a:t>来处理信息 (就像我们的大脑)</a:t>
            </a:r>
            <a:endParaRPr lang="en-US" sz="1159" dirty="0"/>
          </a:p>
        </p:txBody>
      </p:sp>
      <p:sp>
        <p:nvSpPr>
          <p:cNvPr id="13" name="Shape 8"/>
          <p:cNvSpPr/>
          <p:nvPr/>
        </p:nvSpPr>
        <p:spPr>
          <a:xfrm>
            <a:off x="428625" y="2539603"/>
            <a:ext cx="4714875" cy="485775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535781" y="2646759"/>
            <a:ext cx="228600" cy="228600"/>
          </a:xfrm>
          <a:prstGeom prst="ellipse">
            <a:avLst/>
          </a:prstGeom>
          <a:solidFill>
            <a:srgbClr val="4D79FF"/>
          </a:solidFill>
          <a:ln w="18288">
            <a:solidFill>
              <a:srgbClr val="2D2D2D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31" y="2703909"/>
            <a:ext cx="114300" cy="1143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71538" y="2646759"/>
            <a:ext cx="337779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2D2D2D"/>
                </a:solidFill>
              </a:rPr>
              <a:t>机器从</a:t>
            </a:r>
            <a:r>
              <a:rPr lang="en-US" sz="1090" b="1" dirty="0">
                <a:solidFill>
                  <a:srgbClr val="2D2D2D"/>
                </a:solidFill>
              </a:rPr>
              <a:t>错误中学习</a:t>
            </a:r>
            <a:r>
              <a:rPr lang="en-US" sz="1159" dirty="0">
                <a:solidFill>
                  <a:srgbClr val="2D2D2D"/>
                </a:solidFill>
              </a:rPr>
              <a:t>，不断改进 (从"学渣"到"学霸")</a:t>
            </a:r>
            <a:endParaRPr lang="en-US" sz="1159" dirty="0"/>
          </a:p>
        </p:txBody>
      </p:sp>
      <p:sp>
        <p:nvSpPr>
          <p:cNvPr id="17" name="Shape 11"/>
          <p:cNvSpPr/>
          <p:nvPr/>
        </p:nvSpPr>
        <p:spPr>
          <a:xfrm>
            <a:off x="428625" y="3161109"/>
            <a:ext cx="4714875" cy="485775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535781" y="3268266"/>
            <a:ext cx="228600" cy="228600"/>
          </a:xfrm>
          <a:prstGeom prst="ellipse">
            <a:avLst/>
          </a:prstGeom>
          <a:solidFill>
            <a:srgbClr val="4D79FF"/>
          </a:solidFill>
          <a:ln w="18288">
            <a:solidFill>
              <a:srgbClr val="2D2D2D"/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31" y="3325416"/>
            <a:ext cx="114300" cy="1143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71538" y="3268266"/>
            <a:ext cx="203970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2D2D2D"/>
                </a:solidFill>
              </a:rPr>
              <a:t>AI已经在我们生活中</a:t>
            </a:r>
            <a:r>
              <a:rPr lang="en-US" sz="1090" b="1" dirty="0">
                <a:solidFill>
                  <a:srgbClr val="2D2D2D"/>
                </a:solidFill>
              </a:rPr>
              <a:t>到处都是</a:t>
            </a:r>
            <a:endParaRPr lang="en-US" sz="1159" dirty="0"/>
          </a:p>
        </p:txBody>
      </p:sp>
      <p:sp>
        <p:nvSpPr>
          <p:cNvPr id="21" name="Shape 14"/>
          <p:cNvSpPr/>
          <p:nvPr/>
        </p:nvSpPr>
        <p:spPr>
          <a:xfrm>
            <a:off x="428625" y="3782616"/>
            <a:ext cx="4714875" cy="485775"/>
          </a:xfrm>
          <a:prstGeom prst="rect">
            <a:avLst/>
          </a:prstGeom>
          <a:solidFill>
            <a:srgbClr val="FFFFFF"/>
          </a:solidFill>
          <a:ln w="18288">
            <a:solidFill>
              <a:srgbClr val="2D2D2D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535781" y="3889772"/>
            <a:ext cx="228600" cy="228600"/>
          </a:xfrm>
          <a:prstGeom prst="ellipse">
            <a:avLst/>
          </a:prstGeom>
          <a:solidFill>
            <a:srgbClr val="4D79FF"/>
          </a:solidFill>
          <a:ln w="18288">
            <a:solidFill>
              <a:srgbClr val="2D2D2D"/>
            </a:solidFill>
            <a:prstDash val="solid"/>
          </a:ln>
        </p:spPr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931" y="3946922"/>
            <a:ext cx="114300" cy="11430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71538" y="3889772"/>
            <a:ext cx="189842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2D2D2D"/>
                </a:solidFill>
              </a:rPr>
              <a:t>我们也可以</a:t>
            </a:r>
            <a:r>
              <a:rPr lang="en-US" sz="1090" b="1" dirty="0">
                <a:solidFill>
                  <a:srgbClr val="2D2D2D"/>
                </a:solidFill>
              </a:rPr>
              <a:t>训练和使用AI</a:t>
            </a:r>
            <a:r>
              <a:rPr lang="en-US" sz="1159" dirty="0">
                <a:solidFill>
                  <a:srgbClr val="2D2D2D"/>
                </a:solidFill>
              </a:rPr>
              <a:t>！</a:t>
            </a:r>
            <a:endParaRPr lang="en-US" sz="1159" dirty="0"/>
          </a:p>
        </p:txBody>
      </p:sp>
      <p:sp>
        <p:nvSpPr>
          <p:cNvPr id="25" name="Shape 17"/>
          <p:cNvSpPr/>
          <p:nvPr/>
        </p:nvSpPr>
        <p:spPr>
          <a:xfrm>
            <a:off x="5572125" y="1296591"/>
            <a:ext cx="3143250" cy="1785938"/>
          </a:xfrm>
          <a:prstGeom prst="rect">
            <a:avLst/>
          </a:prstGeom>
          <a:solidFill>
            <a:srgbClr val="FFFFFF"/>
          </a:solidFill>
          <a:ln w="27432">
            <a:solidFill>
              <a:srgbClr val="2D2D2D"/>
            </a:solidFill>
            <a:prstDash val="solid"/>
          </a:ln>
        </p:spPr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3563" y="1385274"/>
            <a:ext cx="3000375" cy="1608572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5572125" y="3619035"/>
            <a:ext cx="3143250" cy="1095840"/>
          </a:xfrm>
          <a:prstGeom prst="rect">
            <a:avLst/>
          </a:prstGeom>
          <a:solidFill>
            <a:srgbClr val="2D2D2D"/>
          </a:solidFill>
          <a:ln w="27432">
            <a:solidFill>
              <a:srgbClr val="FF4D4D"/>
            </a:solidFill>
            <a:prstDash val="solid"/>
          </a:ln>
        </p:spPr>
      </p:sp>
      <p:sp>
        <p:nvSpPr>
          <p:cNvPr id="28" name="Text 19"/>
          <p:cNvSpPr/>
          <p:nvPr/>
        </p:nvSpPr>
        <p:spPr>
          <a:xfrm>
            <a:off x="5750719" y="3854779"/>
            <a:ext cx="2786063" cy="2500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FF4D4D"/>
                </a:solidFill>
              </a:rPr>
              <a:t>下一步挑战</a:t>
            </a:r>
            <a:endParaRPr lang="en-US" sz="1269" dirty="0"/>
          </a:p>
        </p:txBody>
      </p:sp>
      <p:sp>
        <p:nvSpPr>
          <p:cNvPr id="29" name="Text 20"/>
          <p:cNvSpPr/>
          <p:nvPr/>
        </p:nvSpPr>
        <p:spPr>
          <a:xfrm>
            <a:off x="5750719" y="4176247"/>
            <a:ext cx="278606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回家后试试用 </a:t>
            </a:r>
            <a:r>
              <a:rPr lang="en-US" sz="885" b="1" dirty="0">
                <a:solidFill>
                  <a:srgbClr val="FFFFFF"/>
                </a:solidFill>
              </a:rPr>
              <a:t>Teachable Machine</a:t>
            </a:r>
            <a:r>
              <a:rPr lang="en-US" sz="942" dirty="0">
                <a:solidFill>
                  <a:srgbClr val="FFFFFF"/>
                </a:solidFill>
              </a:rPr>
              <a:t>
 训练你自己的AI模型吧！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492</Words>
  <Application>Microsoft Macintosh PowerPoint</Application>
  <PresentationFormat>On-screen Show (16:9)</PresentationFormat>
  <Paragraphs>143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Office User</cp:lastModifiedBy>
  <cp:revision>2</cp:revision>
  <dcterms:created xsi:type="dcterms:W3CDTF">2026-01-30T03:18:35Z</dcterms:created>
  <dcterms:modified xsi:type="dcterms:W3CDTF">2026-02-01T14:17:14Z</dcterms:modified>
</cp:coreProperties>
</file>